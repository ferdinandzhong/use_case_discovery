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F0F38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640080"/>
            <a:ext cx="310896" cy="310896"/>
          </a:xfrm>
          <a:prstGeom prst="rect">
            <a:avLst>
              <a:gd name="adj" fmla="val 17647"/>
            </a:avLst>
          </a:prstGeom>
          <a:solidFill>
            <a:srgbClr val="4B4BD6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640080"/>
            <a:ext cx="310896" cy="310896"/>
          </a:xfrm>
          <a:prstGeom prst="rect">
            <a:avLst>
              <a:gd name="adj" fmla="val 17647"/>
            </a:avLst>
          </a:prstGeom>
          <a:solidFill>
            <a:srgbClr val="EA2A0C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1097280"/>
            <a:ext cx="310896" cy="310896"/>
          </a:xfrm>
          <a:prstGeom prst="rect">
            <a:avLst>
              <a:gd name="adj" fmla="val 17647"/>
            </a:avLst>
          </a:prstGeom>
          <a:solidFill>
            <a:srgbClr val="4B4BD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1097280"/>
            <a:ext cx="310896" cy="310896"/>
          </a:xfrm>
          <a:prstGeom prst="rect">
            <a:avLst>
              <a:gd name="adj" fmla="val 17647"/>
            </a:avLst>
          </a:prstGeom>
          <a:solidFill>
            <a:srgbClr val="EA2A0C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0" y="1097280"/>
            <a:ext cx="310896" cy="310896"/>
          </a:xfrm>
          <a:prstGeom prst="rect">
            <a:avLst>
              <a:gd name="adj" fmla="val 17647"/>
            </a:avLst>
          </a:prstGeom>
          <a:solidFill>
            <a:srgbClr val="4B4BD6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0" y="1554480"/>
            <a:ext cx="310896" cy="310896"/>
          </a:xfrm>
          <a:prstGeom prst="rect">
            <a:avLst>
              <a:gd name="adj" fmla="val 17647"/>
            </a:avLst>
          </a:prstGeom>
          <a:solidFill>
            <a:srgbClr val="EA2A0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CLOUDERA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Use Case Discovery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Room-First Addendum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8368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discovery when the customer never returned the survey — the session IS the discovery.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AI Discovery Workshop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A1A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DESTINATION, TWO STARTS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Survey-fed vs. room-first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pre-survey is an accelerant, not a prerequisite. The workshop reaches the same backlog either way.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5394960" cy="640080"/>
          </a:xfrm>
          <a:prstGeom prst="rect">
            <a:avLst/>
          </a:prstGeom>
          <a:solidFill>
            <a:srgbClr val="4B4BD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32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RETURNED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pre-fills from responses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pack (agents score + draft)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reviews &amp; adjusts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start, richer priors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286000"/>
            <a:ext cx="5394960" cy="640080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432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SURVEY — ROOM-FIRST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1546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problem-mining in the room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 case (live) captures each one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score / draft on the spot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case — plan for it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A1A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ROOM IS THE DATA SOURCE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elicitation toolkit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468880"/>
            <a:ext cx="731520" cy="731520"/>
          </a:xfrm>
          <a:prstGeom prst="ellipse">
            <a:avLst/>
          </a:prstGeom>
          <a:solidFill>
            <a:srgbClr val="EA2A0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in the life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each SME through their real workflow. Surface the repetitive, high-effort, error-prone steps.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210312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468880"/>
            <a:ext cx="731520" cy="731520"/>
          </a:xfrm>
          <a:prstGeom prst="ellipse">
            <a:avLst/>
          </a:prstGeom>
          <a:solidFill>
            <a:srgbClr val="EA2A0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Silent-write → round-robin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41148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writes pains on cards first, then share in turn. The loudest voice stops dominating.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210312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41080" y="2468880"/>
            <a:ext cx="731520" cy="731520"/>
          </a:xfrm>
          <a:prstGeom prst="ellipse">
            <a:avLst/>
          </a:prstGeom>
          <a:solidFill>
            <a:srgbClr val="EA2A0C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64108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Hypotheses to react to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41080" y="41148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2–3 industry use cases. Reacting is far easier for a cold room than inventing.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A1A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· A FACILITATOR SCRIPT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Peel the onion — live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candidate use case, ask in this order. Do not start with technology.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91440" cy="896112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1401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 &amp; value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41401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this happen? What does NOT solving it cost you today?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236976"/>
            <a:ext cx="91440" cy="896112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6499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&amp; workflow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336499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biggest delays / handoffs? Which steps are repetitive vs. judgment?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187952"/>
            <a:ext cx="91440" cy="896112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1596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readiness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431596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back does the data go? Are there labeled outcomes? Where does it live?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38928"/>
            <a:ext cx="11064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5138928"/>
            <a:ext cx="91440" cy="896112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6694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&amp; compliance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5266944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regulatory or audit constraints? What happens if the AI is unavailable?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A1A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 · DO NOT SKIP THIS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with a data ask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miss in no-survey sessions. End with MVP + owners AND a concrete data request with a date — it converts the room’s energy into a follow-up obligation.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valuable first version of the top use case.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34840" y="274320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3749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Responsible, Accountable, Consulted, Informed — by name.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21040" y="2743200"/>
            <a:ext cx="3566160" cy="3108960"/>
          </a:xfrm>
          <a:prstGeom prst="rect">
            <a:avLst/>
          </a:prstGeom>
          <a:solidFill>
            <a:srgbClr val="1A1A4E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4108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ask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41080" y="3749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build this, send us X (logs / docs / exports) within N weeks."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A1A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TOOL, LIVE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cockpit tells the story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linked phases, one journey. The tabs are numbered and check off as you go — the room follows the arc, not a menu.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468880"/>
            <a:ext cx="2606040" cy="109728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9" name="Shape 7"/>
          <p:cNvSpPr/>
          <p:nvPr/>
        </p:nvSpPr>
        <p:spPr>
          <a:xfrm>
            <a:off x="1467612" y="2834640"/>
            <a:ext cx="768096" cy="768096"/>
          </a:xfrm>
          <a:prstGeom prst="ellipse">
            <a:avLst/>
          </a:prstGeom>
          <a:solidFill>
            <a:srgbClr val="1A1A4E"/>
          </a:solidFill>
          <a:ln/>
        </p:spPr>
      </p:sp>
      <p:sp>
        <p:nvSpPr>
          <p:cNvPr id="10" name="Text 8"/>
          <p:cNvSpPr/>
          <p:nvPr/>
        </p:nvSpPr>
        <p:spPr>
          <a:xfrm>
            <a:off x="1467612" y="28346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here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54680" y="3314700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456432" y="246888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56432" y="2468880"/>
            <a:ext cx="2606040" cy="109728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5404" y="2834640"/>
            <a:ext cx="768096" cy="768096"/>
          </a:xfrm>
          <a:prstGeom prst="ellipse">
            <a:avLst/>
          </a:prstGeom>
          <a:solidFill>
            <a:srgbClr val="1A1A4E"/>
          </a:solidFill>
          <a:ln/>
        </p:spPr>
      </p:sp>
      <p:sp>
        <p:nvSpPr>
          <p:cNvPr id="17" name="Text 15"/>
          <p:cNvSpPr/>
          <p:nvPr/>
        </p:nvSpPr>
        <p:spPr>
          <a:xfrm>
            <a:off x="4375404" y="28346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39312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39312" y="4251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× feasibility (+ live capture)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62472" y="3314700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364224" y="246888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64224" y="2468880"/>
            <a:ext cx="2606040" cy="109728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23" name="Shape 21"/>
          <p:cNvSpPr/>
          <p:nvPr/>
        </p:nvSpPr>
        <p:spPr>
          <a:xfrm>
            <a:off x="7283196" y="2834640"/>
            <a:ext cx="768096" cy="768096"/>
          </a:xfrm>
          <a:prstGeom prst="ellipse">
            <a:avLst/>
          </a:prstGeom>
          <a:solidFill>
            <a:srgbClr val="1A1A4E"/>
          </a:solidFill>
          <a:ln/>
        </p:spPr>
      </p:sp>
      <p:sp>
        <p:nvSpPr>
          <p:cNvPr id="24" name="Text 22"/>
          <p:cNvSpPr/>
          <p:nvPr/>
        </p:nvSpPr>
        <p:spPr>
          <a:xfrm>
            <a:off x="7283196" y="28346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47104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Canvas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47104" y="4251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focus use case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70264" y="3314700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272016" y="246888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72016" y="2468880"/>
            <a:ext cx="2606040" cy="109728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90988" y="2834640"/>
            <a:ext cx="768096" cy="768096"/>
          </a:xfrm>
          <a:prstGeom prst="ellipse">
            <a:avLst/>
          </a:prstGeom>
          <a:solidFill>
            <a:srgbClr val="1A1A4E"/>
          </a:solidFill>
          <a:ln/>
        </p:spPr>
      </p:sp>
      <p:sp>
        <p:nvSpPr>
          <p:cNvPr id="31" name="Text 29"/>
          <p:cNvSpPr/>
          <p:nvPr/>
        </p:nvSpPr>
        <p:spPr>
          <a:xfrm>
            <a:off x="10190988" y="28346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454896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RACI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54896" y="4251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MVP, owners, export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11064240" cy="1051560"/>
          </a:xfrm>
          <a:prstGeom prst="rect">
            <a:avLst/>
          </a:prstGeom>
          <a:solidFill>
            <a:srgbClr val="1A1A4E"/>
          </a:solidFill>
          <a:ln w="12700">
            <a:solidFill>
              <a:srgbClr val="E6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4e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68680" y="52303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2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 case stays in focus. </a:t>
            </a:r>
            <a:pPr indent="0" marL="0">
              <a:buNone/>
            </a:pPr>
            <a:r>
              <a:rPr lang="en-US" sz="1400" dirty="0">
                <a:solidFill>
                  <a:srgbClr val="E6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it on Prioritize and it follows you into the AI Canvas and Roadmap — "Next" carries the baton, and AI features use the endpoint from Admin → LLM settings (manual capture works offline).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2A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2A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room is the data source.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301752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sponsor, no session — you need the North Star to prioritize.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problems, never technology.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"Kill the Idea" routine, not personal.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owners, dates, and a data ask.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Use Case Discovery — Room-First Addendum</dc:title>
  <dc:subject>PptxGenJS Presentation</dc:subject>
  <dc:creator>Cloudera</dc:creator>
  <cp:lastModifiedBy>Cloudera</cp:lastModifiedBy>
  <cp:revision>1</cp:revision>
  <dcterms:created xsi:type="dcterms:W3CDTF">2026-08-03T14:24:54Z</dcterms:created>
  <dcterms:modified xsi:type="dcterms:W3CDTF">2026-08-03T14:24:54Z</dcterms:modified>
</cp:coreProperties>
</file>