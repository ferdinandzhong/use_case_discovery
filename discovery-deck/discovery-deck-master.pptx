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3" r:id="rId5"/>
  </p:sldMasterIdLst>
  <p:notesMasterIdLst>
    <p:notesMasterId r:id="rId6"/>
  </p:notesMasterIdLst>
  <p:sldIdLst>
    <p:sldId id="256" r:id="rId7"/>
    <p:sldId id="259" r:id="rId10"/>
    <p:sldId id="260" r:id="rId11"/>
    <p:sldId id="261" r:id="rId12"/>
    <p:sldId id="262" r:id="rId13"/>
    <p:sldId id="271" r:id="rId37"/>
    <p:sldId id="263" r:id="rId14"/>
    <p:sldId id="272" r:id="rId38"/>
    <p:sldId id="264" r:id="rId15"/>
  </p:sldIdLst>
  <p:sldSz cy="5143500" cx="9144000"/>
  <p:notesSz cx="6858000" cy="9144000"/>
  <p:embeddedFontLst>
    <p:embeddedFont>
      <p:font typeface="Plus Jakarta Sans"/>
      <p:regular r:id="rId24"/>
      <p:bold r:id="rId25"/>
      <p:italic r:id="rId26"/>
      <p:boldItalic r:id="rId27"/>
    </p:embeddedFont>
    <p:embeddedFont>
      <p:font typeface="Plus Jakarta Sans SemiBold"/>
      <p:regular r:id="rId28"/>
      <p:bold r:id="rId29"/>
      <p:italic r:id="rId30"/>
      <p:boldItalic r:id="rId31"/>
    </p:embeddedFont>
    <p:embeddedFont>
      <p:font typeface="Plus Jakarta Sans Medium"/>
      <p:regular r:id="rId32"/>
      <p:bold r:id="rId33"/>
      <p:italic r:id="rId34"/>
      <p:boldItalic r:id="rId35"/>
    </p:embeddedFont>
    <p:embeddedFont>
      <p:font typeface="Ole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04">
          <p15:clr>
            <a:srgbClr val="A4A3A4"/>
          </p15:clr>
        </p15:guide>
        <p15:guide id="2" orient="horz" pos="1476">
          <p15:clr>
            <a:srgbClr val="A4A3A4"/>
          </p15:clr>
        </p15:guide>
        <p15:guide id="3" orient="horz" pos="804">
          <p15:clr>
            <a:srgbClr val="A4A3A4"/>
          </p15:clr>
        </p15:guide>
        <p15:guide id="4" orient="horz" pos="276">
          <p15:clr>
            <a:srgbClr val="A4A3A4"/>
          </p15:clr>
        </p15:guide>
        <p15:guide id="5" orient="horz" pos="468">
          <p15:clr>
            <a:srgbClr val="A4A3A4"/>
          </p15:clr>
        </p15:guide>
        <p15:guide id="6" pos="5712">
          <p15:clr>
            <a:srgbClr val="A4A3A4"/>
          </p15:clr>
        </p15:guide>
        <p15:guide id="7" pos="5376">
          <p15:clr>
            <a:srgbClr val="A4A3A4"/>
          </p15:clr>
        </p15:guide>
        <p15:guide id="8" pos="2880">
          <p15:clr>
            <a:srgbClr val="A4A3A4"/>
          </p15:clr>
        </p15:guide>
        <p15:guide id="9" pos="48">
          <p15:clr>
            <a:srgbClr val="A4A3A4"/>
          </p15:clr>
        </p15:guide>
        <p15:guide id="10" pos="336">
          <p15:clr>
            <a:srgbClr val="A4A3A4"/>
          </p15:clr>
        </p15:guide>
        <p15:guide id="11" pos="384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2A586C-68E2-4945-B72F-A5165379E31B}">
  <a:tblStyle styleId="{602A586C-68E2-4945-B72F-A5165379E31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100C1AB-7A85-49F7-BFF8-8039CCAB0F4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04" orient="horz"/>
        <p:guide pos="1476" orient="horz"/>
        <p:guide pos="804" orient="horz"/>
        <p:guide pos="276" orient="horz"/>
        <p:guide pos="468" orient="horz"/>
        <p:guide pos="5712"/>
        <p:guide pos="5376"/>
        <p:guide pos="2880"/>
        <p:guide pos="48"/>
        <p:guide pos="336"/>
        <p:guide pos="38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7.xml"/><Relationship Id="rId15" Type="http://schemas.openxmlformats.org/officeDocument/2006/relationships/slide" Target="slides/slide9.xml"/><Relationship Id="rId24" Type="http://schemas.openxmlformats.org/officeDocument/2006/relationships/font" Target="fonts/PlusJakartaSans-regular.fntdata"/><Relationship Id="rId25" Type="http://schemas.openxmlformats.org/officeDocument/2006/relationships/font" Target="fonts/PlusJakartaSans-bold.fntdata"/><Relationship Id="rId26" Type="http://schemas.openxmlformats.org/officeDocument/2006/relationships/font" Target="fonts/PlusJakartaSans-italic.fntdata"/><Relationship Id="rId27" Type="http://schemas.openxmlformats.org/officeDocument/2006/relationships/font" Target="fonts/PlusJakartaSans-boldItalic.fntdata"/><Relationship Id="rId28" Type="http://schemas.openxmlformats.org/officeDocument/2006/relationships/font" Target="fonts/PlusJakartaSansSemiBold-regular.fntdata"/><Relationship Id="rId29" Type="http://schemas.openxmlformats.org/officeDocument/2006/relationships/font" Target="fonts/PlusJakartaSansSemiBold-bold.fntdata"/><Relationship Id="rId30" Type="http://schemas.openxmlformats.org/officeDocument/2006/relationships/font" Target="fonts/PlusJakartaSansSemiBold-italic.fntdata"/><Relationship Id="rId31" Type="http://schemas.openxmlformats.org/officeDocument/2006/relationships/font" Target="fonts/PlusJakartaSansSemiBold-boldItalic.fntdata"/><Relationship Id="rId32" Type="http://schemas.openxmlformats.org/officeDocument/2006/relationships/font" Target="fonts/PlusJakartaSansMedium-regular.fntdata"/><Relationship Id="rId33" Type="http://schemas.openxmlformats.org/officeDocument/2006/relationships/font" Target="fonts/PlusJakartaSansMedium-bold.fntdata"/><Relationship Id="rId34" Type="http://schemas.openxmlformats.org/officeDocument/2006/relationships/font" Target="fonts/PlusJakartaSansMedium-italic.fntdata"/><Relationship Id="rId35" Type="http://schemas.openxmlformats.org/officeDocument/2006/relationships/font" Target="fonts/PlusJakartaSansMedium-boldItalic.fntdata"/><Relationship Id="rId36" Type="http://schemas.openxmlformats.org/officeDocument/2006/relationships/font" Target="fonts/Ole-regular.fntdata"/><Relationship Id="rId37" Type="http://schemas.openxmlformats.org/officeDocument/2006/relationships/slide" Target="slides/slide6.xml"/><Relationship Id="rId3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le"/>
              <a:ea typeface="Ole"/>
              <a:cs typeface="Ole"/>
              <a:sym typeface="Ol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1031b5670e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1031b567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5" name="Google Shape;335;g31031b5670e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4" name="Google Shape;36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fdbb0cf78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2" name="Google Shape;372;g2fdbb0cf787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d3dd0df1d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0" name="Google Shape;380;g2d3dd0df1d6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06c144acaf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06c144aca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9" name="Google Shape;389;g306c144acaf_0_1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06c144acaf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06c144aca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9" name="Google Shape;399;g306c144acaf_0_10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Right | Twilight">
  <p:cSld name="4_Custom Layout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" type="body"/>
          </p:nvPr>
        </p:nvSpPr>
        <p:spPr>
          <a:xfrm>
            <a:off x="6096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3">
            <a:alphaModFix/>
          </a:blip>
          <a:srcRect b="1167" l="36260" r="-4650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type="title"/>
          </p:nvPr>
        </p:nvSpPr>
        <p:spPr>
          <a:xfrm>
            <a:off x="6096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6096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">
  <p:cSld name="4_Custom Layout_2_1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9228" l="49" r="28735" t="23652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">
  <p:cSld name="4_Custom Layout_2_1_1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 rotWithShape="1">
          <a:blip r:embed="rId3">
            <a:alphaModFix/>
          </a:blip>
          <a:srcRect b="9175" l="-42" r="28736" t="23551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| Nodes at the Bottom | Orange">
  <p:cSld name="4_Custom Layout_1_1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3387" l="16421" r="40903" t="662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6096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6096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Blue Nodes on the Right">
  <p:cSld name="3_Custom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idx="1" type="body"/>
          </p:nvPr>
        </p:nvSpPr>
        <p:spPr>
          <a:xfrm>
            <a:off x="6096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b="0" i="0" sz="13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>
            <p:ph idx="2" type="body"/>
          </p:nvPr>
        </p:nvSpPr>
        <p:spPr>
          <a:xfrm>
            <a:off x="6096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1167" l="36260" r="-4650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6096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White ">
  <p:cSld name="30_Title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 b="47312" l="109" r="31189" t="17597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b="0" i="0" sz="2300">
                <a:solidFill>
                  <a:srgbClr val="12004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">
  <p:cSld name="38_Title and Content">
    <p:bg>
      <p:bgPr>
        <a:solidFill>
          <a:schemeClr val="accen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8"/>
          <p:cNvPicPr preferRelativeResize="0"/>
          <p:nvPr/>
        </p:nvPicPr>
        <p:blipFill rotWithShape="1">
          <a:blip r:embed="rId2">
            <a:alphaModFix/>
          </a:blip>
          <a:srcRect b="47334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Twilight">
  <p:cSld name="44_Title and Content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 b="47182" l="0" r="31295" t="17732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">
  <p:cSld name="6_Title Only_3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5" name="Google Shape;7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no subhead">
  <p:cSld name="6_Title Only_3_1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1" name="Google Shape;8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Twilight">
  <p:cSld name="6_Title Only_3_1_2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5" name="Google Shape;8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">
  <p:cSld name="6_Title Only_3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1" name="Google Shape;91;p1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2" name="Google Shape;9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| Twilight">
  <p:cSld name="6_Title Only_3_1_1_1"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0" name="Google Shape;10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">
  <p:cSld name="6_Title Only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533400" y="1370008"/>
            <a:ext cx="80010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8" name="Google Shape;10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 _Title only">
  <p:cSld name="6_Title Only_2_4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4" name="Google Shape;11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">
  <p:cSld name="6_Title Only_2_3">
    <p:bg>
      <p:bgPr>
        <a:solidFill>
          <a:schemeClr val="accent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9" name="Google Shape;11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">
  <p:cSld name="6_Title Only_2_3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4" name="Google Shape;12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Bottom Left">
  <p:cSld name="6_Title Only_2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 rotWithShape="1">
          <a:blip r:embed="rId2">
            <a:alphaModFix amt="30000"/>
          </a:blip>
          <a:srcRect b="0" l="0" r="39649" t="24294"/>
          <a:stretch/>
        </p:blipFill>
        <p:spPr>
          <a:xfrm rot="10800000">
            <a:off x="-1848" y="1182550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533400" y="1370012"/>
            <a:ext cx="80010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">
  <p:cSld name="6_Title Only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533400" y="1370000"/>
            <a:ext cx="3923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0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137" name="Google Shape;137;p2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8" name="Google Shape;1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| Twilight">
  <p:cSld name="6_Title Only_1_2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533400" y="1370000"/>
            <a:ext cx="38931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1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144" name="Google Shape;144;p2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5" name="Google Shape;14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">
  <p:cSld name="6_Title Only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923250" y="1370000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2"/>
          <p:cNvSpPr/>
          <p:nvPr>
            <p:ph idx="2" type="pic"/>
          </p:nvPr>
        </p:nvSpPr>
        <p:spPr>
          <a:xfrm>
            <a:off x="625675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151" name="Google Shape;151;p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2" name="Google Shape;15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| Twilight">
  <p:cSld name="9_Title Only_2"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533400" y="1370009"/>
            <a:ext cx="2895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">
  <p:cSld name="10_Title 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533400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3165987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3" type="body"/>
          </p:nvPr>
        </p:nvSpPr>
        <p:spPr>
          <a:xfrm>
            <a:off x="5798575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66" name="Google Shape;16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4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 | Twilight">
  <p:cSld name="10_Title Only_1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533400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body"/>
          </p:nvPr>
        </p:nvSpPr>
        <p:spPr>
          <a:xfrm>
            <a:off x="3165987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3" type="body"/>
          </p:nvPr>
        </p:nvSpPr>
        <p:spPr>
          <a:xfrm>
            <a:off x="5798575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4" name="Google Shape;17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">
  <p:cSld name="7_Title 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4267200" y="1370012"/>
            <a:ext cx="3962392" cy="1506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6"/>
          <p:cNvSpPr/>
          <p:nvPr/>
        </p:nvSpPr>
        <p:spPr>
          <a:xfrm>
            <a:off x="381000" y="897026"/>
            <a:ext cx="762000" cy="22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2" name="Google Shape;18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>
            <p:ph idx="2" type="body"/>
          </p:nvPr>
        </p:nvSpPr>
        <p:spPr>
          <a:xfrm>
            <a:off x="4267200" y="734275"/>
            <a:ext cx="4425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 1">
  <p:cSld name="7_Title Only_2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2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8" name="Google Shape;18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7"/>
          <p:cNvSpPr txBox="1"/>
          <p:nvPr>
            <p:ph idx="2" type="body"/>
          </p:nvPr>
        </p:nvSpPr>
        <p:spPr>
          <a:xfrm>
            <a:off x="4267200" y="734275"/>
            <a:ext cx="4425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">
  <p:cSld name="7_Title Only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5206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8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 | Twilight">
  <p:cSld name="7_Title Only_1_3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5206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2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9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29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">
  <p:cSld name="7_Title Only_1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30"/>
          <p:cNvSpPr/>
          <p:nvPr/>
        </p:nvSpPr>
        <p:spPr>
          <a:xfrm>
            <a:off x="38794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7" name="Google Shape;20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0"/>
          <p:cNvSpPr txBox="1"/>
          <p:nvPr>
            <p:ph idx="3" type="body"/>
          </p:nvPr>
        </p:nvSpPr>
        <p:spPr>
          <a:xfrm>
            <a:off x="41353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 | Twilight">
  <p:cSld name="7_Title Only_1_2_1"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3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4" name="Google Shape;21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1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1"/>
          <p:cNvSpPr txBox="1"/>
          <p:nvPr>
            <p:ph idx="3" type="body"/>
          </p:nvPr>
        </p:nvSpPr>
        <p:spPr>
          <a:xfrm>
            <a:off x="41353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White">
  <p:cSld name="7_Title Only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/>
          <p:nvPr/>
        </p:nvSpPr>
        <p:spPr>
          <a:xfrm>
            <a:off x="297925" y="3329814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32"/>
          <p:cNvCxnSpPr/>
          <p:nvPr/>
        </p:nvCxnSpPr>
        <p:spPr>
          <a:xfrm rot="10800000">
            <a:off x="63014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5538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32"/>
          <p:cNvSpPr txBox="1"/>
          <p:nvPr>
            <p:ph idx="2" type="body"/>
          </p:nvPr>
        </p:nvSpPr>
        <p:spPr>
          <a:xfrm>
            <a:off x="5538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32"/>
          <p:cNvSpPr txBox="1"/>
          <p:nvPr>
            <p:ph idx="3" type="body"/>
          </p:nvPr>
        </p:nvSpPr>
        <p:spPr>
          <a:xfrm>
            <a:off x="5538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3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2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Twilight">
  <p:cSld name="7_Title Only_1_1_2"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Google Shape;228;p33"/>
          <p:cNvCxnSpPr/>
          <p:nvPr/>
        </p:nvCxnSpPr>
        <p:spPr>
          <a:xfrm rot="10800000">
            <a:off x="63014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5538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" name="Google Shape;230;p33"/>
          <p:cNvSpPr txBox="1"/>
          <p:nvPr>
            <p:ph idx="2" type="body"/>
          </p:nvPr>
        </p:nvSpPr>
        <p:spPr>
          <a:xfrm>
            <a:off x="5538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33"/>
          <p:cNvSpPr txBox="1"/>
          <p:nvPr>
            <p:ph idx="3" type="body"/>
          </p:nvPr>
        </p:nvSpPr>
        <p:spPr>
          <a:xfrm>
            <a:off x="5538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3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3"/>
          <p:cNvSpPr txBox="1"/>
          <p:nvPr>
            <p:ph idx="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Twilight">
  <p:cSld name="7_Title Only_1_1_1">
    <p:bg>
      <p:bgPr>
        <a:solidFill>
          <a:schemeClr val="dk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4"/>
          <p:cNvPicPr preferRelativeResize="0"/>
          <p:nvPr/>
        </p:nvPicPr>
        <p:blipFill rotWithShape="1">
          <a:blip r:embed="rId2">
            <a:alphaModFix/>
          </a:blip>
          <a:srcRect b="7629" l="0" r="0" t="0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34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34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40" name="Google Shape;24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34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3" name="Google Shape;243;p34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4" name="Google Shape;244;p34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3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46" name="Google Shape;24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 xml:space="preserve">©2025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Orange">
  <p:cSld name="7_Title Only_1_1_1_1">
    <p:bg>
      <p:bgPr>
        <a:solidFill>
          <a:schemeClr val="accen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35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35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2" name="Google Shape;2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35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35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35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2600" y="4769550"/>
            <a:ext cx="1133500" cy="1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 xml:space="preserve">©2025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White">
  <p:cSld name="7_Title Only_1_1_1_1_1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6"/>
          <p:cNvPicPr preferRelativeResize="0"/>
          <p:nvPr/>
        </p:nvPicPr>
        <p:blipFill rotWithShape="1">
          <a:blip r:embed="rId2">
            <a:alphaModFix/>
          </a:blip>
          <a:srcRect b="416" l="0" r="0" t="42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36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36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4" name="Google Shape;2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36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36"/>
          <p:cNvSpPr txBox="1"/>
          <p:nvPr>
            <p:ph idx="1" type="body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36"/>
          <p:cNvSpPr txBox="1"/>
          <p:nvPr>
            <p:ph idx="2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8" name="Google Shape;268;p36"/>
          <p:cNvSpPr txBox="1"/>
          <p:nvPr>
            <p:ph idx="3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9" name="Google Shape;269;p3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70" name="Google Shape;27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6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 xml:space="preserve">©2025 Cloudera, Inc. All Rights Reserved. 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">
  <p:cSld name="8_Title Only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5715000" y="284253"/>
            <a:ext cx="3124196" cy="612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37"/>
          <p:cNvSpPr/>
          <p:nvPr/>
        </p:nvSpPr>
        <p:spPr>
          <a:xfrm>
            <a:off x="381000" y="0"/>
            <a:ext cx="381000" cy="1027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7"/>
          <p:cNvSpPr/>
          <p:nvPr/>
        </p:nvSpPr>
        <p:spPr>
          <a:xfrm>
            <a:off x="381000" y="897026"/>
            <a:ext cx="762000" cy="22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78" name="Google Shape;27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7"/>
          <p:cNvSpPr txBox="1"/>
          <p:nvPr>
            <p:ph idx="2" type="body"/>
          </p:nvPr>
        </p:nvSpPr>
        <p:spPr>
          <a:xfrm>
            <a:off x="5715000" y="1170775"/>
            <a:ext cx="312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 1">
  <p:cSld name="8_Title Only_1">
    <p:bg>
      <p:bgPr>
        <a:solidFill>
          <a:schemeClr val="dk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>
            <p:ph type="title"/>
          </p:nvPr>
        </p:nvSpPr>
        <p:spPr>
          <a:xfrm>
            <a:off x="5715000" y="284253"/>
            <a:ext cx="3124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38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3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84" name="Google Shape;28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8"/>
          <p:cNvSpPr txBox="1"/>
          <p:nvPr>
            <p:ph idx="2" type="body"/>
          </p:nvPr>
        </p:nvSpPr>
        <p:spPr>
          <a:xfrm>
            <a:off x="5715000" y="1170775"/>
            <a:ext cx="312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 Nodes Top Right 2">
  <p:cSld name="32_Title and Content_1">
    <p:bg>
      <p:bgPr>
        <a:solidFill>
          <a:schemeClr val="accen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533400" y="1370025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3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00" y="4769550"/>
            <a:ext cx="1133500" cy="1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39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92" name="Google Shape;29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 xml:space="preserve">©2025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ilight Background Nodes Top Right 2">
  <p:cSld name="41_Title and Content_1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idx="1" type="body"/>
          </p:nvPr>
        </p:nvSpPr>
        <p:spPr>
          <a:xfrm>
            <a:off x="5334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6" name="Google Shape;296;p4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97" name="Google Shape;29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40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00" name="Google Shape;30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">
  <p:cSld name="39_Title and Content_1"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/>
          <p:nvPr>
            <p:ph idx="1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3" name="Google Shape;303;p41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4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05" name="Google Shape;30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1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08" name="Google Shape;30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">
  <p:cSld name="16_Title Only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11" name="Google Shape;31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42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4" name="Google Shape;314;p42"/>
          <p:cNvSpPr txBox="1"/>
          <p:nvPr>
            <p:ph idx="2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315" name="Google Shape;31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ntent">
  <p:cSld name="15_Title Only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8" name="Google Shape;318;p4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19" name="Google Shape;319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logo 1">
  <p:cSld name="15_Title Only_1_1"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 3">
  <p:cSld name="6_Title Only_2_3_1_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24" name="Google Shape;324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45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 3">
  <p:cSld name="6_Title Only_2_3_4">
    <p:bg>
      <p:bgPr>
        <a:solidFill>
          <a:schemeClr val="accent3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29" name="Google Shape;32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6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33400" y="284253"/>
            <a:ext cx="7620000" cy="612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300"/>
              <a:buFont typeface="Plus Jakarta Sans Medium"/>
              <a:buNone/>
              <a:defRPr b="0" i="0" sz="2300" u="none" cap="none" strike="noStrik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33400" y="1370013"/>
            <a:ext cx="7981950" cy="326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 b="0" i="0" sz="14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marR="0" rtl="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 b="0" i="0" sz="12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SzPts val="1200"/>
              <a:buFont typeface="Arial"/>
              <a:buChar char="•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–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»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USE CASE DISCOVERY</a:t>
            </a:r>
            <a:endParaRPr/>
          </a:p>
        </p:txBody>
      </p:sp>
      <p:sp>
        <p:nvSpPr>
          <p:cNvPr id="338" name="Google Shape;338;p47"/>
          <p:cNvSpPr txBox="1"/>
          <p:nvPr>
            <p:ph type="title"/>
          </p:nvPr>
        </p:nvSpPr>
        <p:spPr>
          <a:xfrm>
            <a:off x="3670625" y="2160475"/>
            <a:ext cx="4968300" cy="6129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20046"/>
                </a:solidFill>
              </a:rPr>
              <a:t xml:space="preserve">Bring AI to your data. </a:t>
            </a:r>
            <a:br>
              <a:rPr lang="en-US">
                <a:solidFill>
                  <a:srgbClr val="120046"/>
                </a:solidFill>
              </a:rPr>
            </a:br>
            <a:r>
              <a:rPr lang="en-US">
                <a:solidFill>
                  <a:srgbClr val="120046"/>
                </a:solidFill>
              </a:rPr>
              <a:t>Give it the meaning to act.</a:t>
            </a:r>
            <a:endParaRPr/>
          </a:p>
        </p:txBody>
      </p:sp>
      <p:sp>
        <p:nvSpPr>
          <p:cNvPr id="339" name="Google Shape;339;p47"/>
          <p:cNvSpPr txBox="1"/>
          <p:nvPr>
            <p:ph idx="2" type="body"/>
          </p:nvPr>
        </p:nvSpPr>
        <p:spPr>
          <a:xfrm>
            <a:off x="3670625" y="2856575"/>
            <a:ext cx="4724700" cy="570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Prepared for {{CUSTOMER}}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Your experts spend their days on manual work</a:t>
            </a:r>
            <a:endParaRPr/>
          </a:p>
        </p:txBody>
      </p:sp>
      <p:sp>
        <p:nvSpPr>
          <p:cNvPr id="360" name="Google Shape;360;p50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Why AI, and why it needs your data</a:t>
            </a:r>
            <a:endParaRPr/>
          </a:p>
        </p:txBody>
      </p:sp>
      <p:sp>
        <p:nvSpPr>
          <p:cNvPr id="361" name="Google Shape;361;p50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Skilled people burn hours on repetitive, manual steps that don’t scale.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</a:pPr>
            <a:r>
              <a:rPr lang="en-US"/>
              <a:t>AI can take that toil, if it truly understands your business.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Out of the box it doesn’t: it fills the gaps by guessing.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Confident, wrong answers erode trust, and the fix isn't a bigger model. So what's actually missing?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The gap isn’t capability. It’s meaning</a:t>
            </a:r>
            <a:endParaRPr/>
          </a:p>
        </p:txBody>
      </p:sp>
      <p:sp>
        <p:nvSpPr>
          <p:cNvPr id="367" name="Google Shape;367;p51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Bare RAG matches text, not meaning.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It finds a doc that says “inventory” but can’t tell ERP stock from WMS stock.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Vector similarity is not business semantics.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Right words, wrong meaning.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/>
          </a:p>
        </p:txBody>
      </p:sp>
      <p:sp>
        <p:nvSpPr>
          <p:cNvPr id="368" name="Google Shape;368;p51"/>
          <p:cNvSpPr txBox="1"/>
          <p:nvPr>
            <p:ph idx="1" type="body"/>
          </p:nvPr>
        </p:nvSpPr>
        <p:spPr>
          <a:xfrm>
            <a:off x="4722600" y="1370000"/>
            <a:ext cx="38424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Bare agents get raw codes from tools.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defect_cd=7, ALLOY_CD: the model has no idea which defect or grade.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So it guesses to fill the gap.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The missing layer is the ontology.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/>
          </a:p>
        </p:txBody>
      </p:sp>
      <p:sp>
        <p:nvSpPr>
          <p:cNvPr id="369" name="Google Shape;369;p51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Why generic AI hallucinates on your data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Data together is not knowledge connected</a:t>
            </a:r>
            <a:endParaRPr/>
          </a:p>
        </p:txBody>
      </p:sp>
      <p:sp>
        <p:nvSpPr>
          <p:cNvPr id="375" name="Google Shape;375;p52"/>
          <p:cNvSpPr txBox="1"/>
          <p:nvPr>
            <p:ph idx="1" type="body"/>
          </p:nvPr>
        </p:nvSpPr>
        <p:spPr>
          <a:xfrm>
            <a:off x="533400" y="1370000"/>
            <a:ext cx="3882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You can pool every dataset and still not connect the knowledge.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What’s missing is the semantic relationships between things.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A knowledge graph adds them: Entities + Relationships + Semantic Context.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That becomes the context layer that makes AI grounded, not guessing.</a:t>
            </a:r>
            <a:endParaRPr/>
          </a:p>
        </p:txBody>
      </p:sp>
      <p:sp>
        <p:nvSpPr>
          <p:cNvPr id="376" name="Google Shape;376;p52"/>
          <p:cNvSpPr/>
          <p:nvPr>
            <p:ph idx="2" type="pic"/>
          </p:nvPr>
        </p:nvSpPr>
        <p:spPr>
          <a:xfrm>
            <a:off x="4600100" y="1283925"/>
            <a:ext cx="4064100" cy="3235800"/>
          </a:xfrm>
          <a:prstGeom prst="roundRect">
            <a:avLst>
              <a:gd fmla="val 16667" name="adj"/>
            </a:avLst>
          </a:prstGeom>
        </p:spPr>
        <p:txBody>
          <a:bodyPr/>
          <a:p/>
        </p:txBody>
      </p:sp>
      <p:sp>
        <p:nvSpPr>
          <p:cNvPr id="377" name="Google Shape;377;p52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lesson from pharma R&amp;D</a:t>
            </a:r>
            <a:endParaRPr/>
          </a:p>
        </p:txBody>
      </p:sp>
      <p:sp>
        <p:nvSpPr>
          <p:cNvPr id="378" name="Rounded Rectangle 377"/>
          <p:cNvSpPr/>
          <p:nvPr/>
        </p:nvSpPr>
        <p:spPr>
          <a:xfrm>
            <a:off x="4800600" y="1600200"/>
            <a:ext cx="1234440" cy="777240"/>
          </a:xfrm>
          <a:prstGeom prst="roundRect">
            <a:avLst/>
          </a:prstGeom>
          <a:solidFill>
            <a:srgbClr val="F2F1F6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120046"/>
                </a:solidFill>
                <a:latin typeface="Arial"/>
              </a:rPr>
              <a:t>Entities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5989320" y="1783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550C"/>
                </a:solidFill>
                <a:latin typeface="Arial"/>
              </a:rPr>
              <a:t>+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6153912" y="1600200"/>
            <a:ext cx="1234440" cy="777240"/>
          </a:xfrm>
          <a:prstGeom prst="roundRect">
            <a:avLst/>
          </a:prstGeom>
          <a:solidFill>
            <a:srgbClr val="F2F1F6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120046"/>
                </a:solidFill>
                <a:latin typeface="Arial"/>
              </a:rPr>
              <a:t>Relationships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7342632" y="1783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550C"/>
                </a:solidFill>
                <a:latin typeface="Arial"/>
              </a:rPr>
              <a:t>+</a:t>
            </a:r>
          </a:p>
        </p:txBody>
      </p:sp>
      <p:sp>
        <p:nvSpPr>
          <p:cNvPr id="382" name="Rounded Rectangle 381"/>
          <p:cNvSpPr/>
          <p:nvPr/>
        </p:nvSpPr>
        <p:spPr>
          <a:xfrm>
            <a:off x="7507224" y="1600200"/>
            <a:ext cx="1234440" cy="777240"/>
          </a:xfrm>
          <a:prstGeom prst="roundRect">
            <a:avLst/>
          </a:prstGeom>
          <a:solidFill>
            <a:srgbClr val="F2F1F6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120046"/>
                </a:solidFill>
                <a:latin typeface="Arial"/>
              </a:rPr>
              <a:t>Semantic
context</a:t>
            </a:r>
          </a:p>
        </p:txBody>
      </p:sp>
      <p:sp>
        <p:nvSpPr>
          <p:cNvPr id="383" name="Down Arrow 382"/>
          <p:cNvSpPr/>
          <p:nvPr/>
        </p:nvSpPr>
        <p:spPr>
          <a:xfrm>
            <a:off x="6629400" y="2514600"/>
            <a:ext cx="365760" cy="502920"/>
          </a:xfrm>
          <a:prstGeom prst="downArrow">
            <a:avLst/>
          </a:prstGeom>
          <a:solidFill>
            <a:srgbClr val="FF5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ounded Rectangle 383"/>
          <p:cNvSpPr/>
          <p:nvPr/>
        </p:nvSpPr>
        <p:spPr>
          <a:xfrm>
            <a:off x="4800600" y="3154680"/>
            <a:ext cx="3931920" cy="868680"/>
          </a:xfrm>
          <a:prstGeom prst="roundRect">
            <a:avLst/>
          </a:prstGeom>
          <a:solidFill>
            <a:srgbClr val="12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= Connected knowledge:
the layer that grounds AI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Give AI your vocabulary: TBox + ABox</a:t>
            </a:r>
            <a:endParaRPr/>
          </a:p>
        </p:txBody>
      </p:sp>
      <p:sp>
        <p:nvSpPr>
          <p:cNvPr id="383" name="Google Shape;383;p53"/>
          <p:cNvSpPr txBox="1"/>
          <p:nvPr>
            <p:ph idx="1" type="body"/>
          </p:nvPr>
        </p:nvSpPr>
        <p:spPr>
          <a:xfrm>
            <a:off x="4923250" y="1370000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TBox = your concepts and rules: Part, BOM, Supplier; “part_id is unique.”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ABox = the governed facts, read on demand from your systems.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Ask in plain language → map to your vocabulary → pull the exact data → grounded answer.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Now AI reads your data by meaning, trustworthy enough for real work. The only question left: where to point it first.</a:t>
            </a:r>
            <a:endParaRPr/>
          </a:p>
        </p:txBody>
      </p:sp>
      <p:sp>
        <p:nvSpPr>
          <p:cNvPr id="384" name="Google Shape;384;p53"/>
          <p:cNvSpPr/>
          <p:nvPr>
            <p:ph idx="2" type="pic"/>
          </p:nvPr>
        </p:nvSpPr>
        <p:spPr>
          <a:xfrm>
            <a:off x="625675" y="1283925"/>
            <a:ext cx="4064100" cy="3261600"/>
          </a:xfrm>
          <a:prstGeom prst="roundRect">
            <a:avLst>
              <a:gd fmla="val 16667" name="adj"/>
            </a:avLst>
          </a:prstGeom>
        </p:spPr>
        <p:txBody>
          <a:bodyPr/>
          <a:p/>
        </p:txBody>
      </p:sp>
      <p:sp>
        <p:nvSpPr>
          <p:cNvPr id="385" name="Google Shape;385;p53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ontology, in two parts</a:t>
            </a:r>
            <a:endParaRPr/>
          </a:p>
        </p:txBody>
      </p:sp>
      <p:sp>
        <p:nvSpPr>
          <p:cNvPr id="386" name="Rounded Rectangle 385"/>
          <p:cNvSpPr/>
          <p:nvPr/>
        </p:nvSpPr>
        <p:spPr>
          <a:xfrm>
            <a:off x="502920" y="1417320"/>
            <a:ext cx="3703320" cy="566928"/>
          </a:xfrm>
          <a:prstGeom prst="roundRect">
            <a:avLst/>
          </a:prstGeom>
          <a:solidFill>
            <a:srgbClr val="F2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20046"/>
                </a:solidFill>
                <a:latin typeface="Arial"/>
              </a:rPr>
              <a:t>Your question (plain language)</a:t>
            </a:r>
          </a:p>
        </p:txBody>
      </p:sp>
      <p:sp>
        <p:nvSpPr>
          <p:cNvPr id="387" name="Down Arrow 386"/>
          <p:cNvSpPr/>
          <p:nvPr/>
        </p:nvSpPr>
        <p:spPr>
          <a:xfrm>
            <a:off x="2244852" y="2002536"/>
            <a:ext cx="219456" cy="292608"/>
          </a:xfrm>
          <a:prstGeom prst="downArrow">
            <a:avLst/>
          </a:prstGeom>
          <a:solidFill>
            <a:srgbClr val="FF5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ounded Rectangle 387"/>
          <p:cNvSpPr/>
          <p:nvPr/>
        </p:nvSpPr>
        <p:spPr>
          <a:xfrm>
            <a:off x="502920" y="2276856"/>
            <a:ext cx="37033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20046"/>
                </a:solidFill>
                <a:latin typeface="Arial"/>
              </a:rPr>
              <a:t>Map to your vocabulary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4251959" y="240487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550C"/>
                </a:solidFill>
                <a:latin typeface="Arial"/>
              </a:rPr>
              <a:t>TBox</a:t>
            </a:r>
          </a:p>
        </p:txBody>
      </p:sp>
      <p:sp>
        <p:nvSpPr>
          <p:cNvPr id="390" name="Down Arrow 389"/>
          <p:cNvSpPr/>
          <p:nvPr/>
        </p:nvSpPr>
        <p:spPr>
          <a:xfrm>
            <a:off x="2244852" y="2862072"/>
            <a:ext cx="219456" cy="292608"/>
          </a:xfrm>
          <a:prstGeom prst="downArrow">
            <a:avLst/>
          </a:prstGeom>
          <a:solidFill>
            <a:srgbClr val="FF5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ounded Rectangle 390"/>
          <p:cNvSpPr/>
          <p:nvPr/>
        </p:nvSpPr>
        <p:spPr>
          <a:xfrm>
            <a:off x="502920" y="3136392"/>
            <a:ext cx="37033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20046"/>
                </a:solidFill>
                <a:latin typeface="Arial"/>
              </a:rPr>
              <a:t>Pull the exact governed data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4251959" y="326440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550C"/>
                </a:solidFill>
                <a:latin typeface="Arial"/>
              </a:rPr>
              <a:t>ABox</a:t>
            </a:r>
          </a:p>
        </p:txBody>
      </p:sp>
      <p:sp>
        <p:nvSpPr>
          <p:cNvPr id="393" name="Down Arrow 392"/>
          <p:cNvSpPr/>
          <p:nvPr/>
        </p:nvSpPr>
        <p:spPr>
          <a:xfrm>
            <a:off x="2244852" y="3721608"/>
            <a:ext cx="219456" cy="292608"/>
          </a:xfrm>
          <a:prstGeom prst="downArrow">
            <a:avLst/>
          </a:prstGeom>
          <a:solidFill>
            <a:srgbClr val="FF5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ounded Rectangle 393"/>
          <p:cNvSpPr/>
          <p:nvPr/>
        </p:nvSpPr>
        <p:spPr>
          <a:xfrm>
            <a:off x="502920" y="3995928"/>
            <a:ext cx="3703320" cy="566928"/>
          </a:xfrm>
          <a:prstGeom prst="roundRect">
            <a:avLst/>
          </a:prstGeom>
          <a:solidFill>
            <a:srgbClr val="12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Grounded answer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Where could AI help in your day-to-day?</a:t>
            </a:r>
            <a:endParaRPr/>
          </a:p>
        </p:txBody>
      </p:sp>
      <p:sp>
        <p:nvSpPr>
          <p:cNvPr id="360" name="Google Shape;360;p50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Now your data can ground AI. So where do we point it first?</a:t>
            </a:r>
            <a:endParaRPr/>
          </a:p>
        </p:txBody>
      </p:sp>
      <p:sp>
        <p:nvSpPr>
          <p:cNvPr id="361" name="Google Shape;361;p50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  <a:buNone/>
            </a:pPr>
            <a:r>
              <a:rPr b="1" sz="1300">
                <a:solidFill>
                  <a:srgbClr val="FF550C"/>
                </a:solidFill>
                <a:latin typeface="Arial"/>
              </a:rPr>
              <a:t>Signs worth a look</a:t>
            </a:r>
            <a:endParaRPr/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Repetitive cross-referencing across disconnected systems</a:t>
            </a:r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Manual review, triage, and approvals that gate the work</a:t>
            </a:r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Answers that live in people’s heads, not any system</a:t>
            </a:r>
          </a:p>
          <a:p>
            <a:pPr indent="0" marL="0">
              <a:buNone/>
            </a:pPr>
            <a:r>
              <a:rPr sz="600"/>
              <a:t/>
            </a:r>
          </a:p>
          <a:p>
            <a:pPr indent="0" marL="0">
              <a:buNone/>
            </a:pPr>
            <a:r>
              <a:rPr b="1" sz="1300">
                <a:solidFill>
                  <a:srgbClr val="FF550C"/>
                </a:solidFill>
                <a:latin typeface="Arial"/>
              </a:rPr>
              <a:t>What makes a strong first pick</a:t>
            </a:r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The work is painful and repeats often</a:t>
            </a:r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The data to ground it exists (that’s your ontology)</a:t>
            </a:r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There’s a clear decision or action at the end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4800600" y="1828800"/>
            <a:ext cx="1783080" cy="868680"/>
          </a:xfrm>
          <a:prstGeom prst="roundRect">
            <a:avLst/>
          </a:prstGeom>
          <a:solidFill>
            <a:srgbClr val="F2F1F6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20046"/>
                </a:solidFill>
                <a:latin typeface="Arial"/>
              </a:rPr>
              <a:t>Painful, repetitive work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6583680" y="2048256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550C"/>
                </a:solidFill>
                <a:latin typeface="Arial"/>
              </a:rPr>
              <a:t>+</a:t>
            </a:r>
          </a:p>
        </p:txBody>
      </p:sp>
      <p:sp>
        <p:nvSpPr>
          <p:cNvPr id="364" name="Rounded Rectangle 363"/>
          <p:cNvSpPr/>
          <p:nvPr/>
        </p:nvSpPr>
        <p:spPr>
          <a:xfrm>
            <a:off x="6949440" y="1828800"/>
            <a:ext cx="1783080" cy="868680"/>
          </a:xfrm>
          <a:prstGeom prst="roundRect">
            <a:avLst/>
          </a:prstGeom>
          <a:solidFill>
            <a:srgbClr val="F2F1F6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20046"/>
                </a:solidFill>
                <a:latin typeface="Arial"/>
              </a:rPr>
              <a:t>Data we can ground</a:t>
            </a:r>
          </a:p>
        </p:txBody>
      </p:sp>
      <p:sp>
        <p:nvSpPr>
          <p:cNvPr id="365" name="Down Arrow 364"/>
          <p:cNvSpPr/>
          <p:nvPr/>
        </p:nvSpPr>
        <p:spPr>
          <a:xfrm>
            <a:off x="6656832" y="2788920"/>
            <a:ext cx="274320" cy="457200"/>
          </a:xfrm>
          <a:prstGeom prst="downArrow">
            <a:avLst/>
          </a:prstGeom>
          <a:solidFill>
            <a:srgbClr val="FF5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ounded Rectangle 365"/>
          <p:cNvSpPr/>
          <p:nvPr/>
        </p:nvSpPr>
        <p:spPr>
          <a:xfrm>
            <a:off x="5120640" y="3401568"/>
            <a:ext cx="3474720" cy="868680"/>
          </a:xfrm>
          <a:prstGeom prst="roundRect">
            <a:avLst/>
          </a:prstGeom>
          <a:solidFill>
            <a:srgbClr val="12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 use case worth building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4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Proven agentic workflows on Cloudera</a:t>
            </a:r>
            <a:endParaRPr/>
          </a:p>
        </p:txBody>
      </p:sp>
      <p:sp>
        <p:nvSpPr>
          <p:cNvPr id="392" name="Google Shape;392;p54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Agents that replace manual review, grounded in governed data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"/>
              <a:buNone/>
            </a:pPr>
            <a:r>
              <a:t/>
            </a:r>
            <a:endParaRPr/>
          </a:p>
        </p:txBody>
      </p:sp>
      <p:graphicFrame>
        <p:nvGraphicFramePr>
          <p:cNvPr id="393" name="Google Shape;393;p54"/>
          <p:cNvGraphicFramePr/>
          <p:nvPr/>
        </p:nvGraphicFramePr>
        <p:xfrm>
          <a:off x="642100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{8100C1AB-7A85-49F7-BFF8-8039CCAB0F40}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Banking support</a:t>
                      </a:r>
                      <a:endParaRPr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Chatbot with memory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Recalls: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the customer across every session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Retrieves: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live account data from the lakehouse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Reasons: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over cross-session patterns to escalate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Result: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no more “I explained this last time”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4" name="Google Shape;394;p54"/>
          <p:cNvGraphicFramePr/>
          <p:nvPr/>
        </p:nvGraphicFramePr>
        <p:xfrm>
          <a:off x="3148075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{8100C1AB-7A85-49F7-BFF8-8039CCAB0F40}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Trade fraud</a:t>
                      </a:r>
                      <a:endParaRPr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Six-agent pipeline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Screens: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every declaration, not a sample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Extracts: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invoice fields via OCR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Checks: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prices, sanctions, collusion patterns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Result: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30-90 min review → seconds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5" name="Google Shape;395;p54"/>
          <p:cNvGraphicFramePr/>
          <p:nvPr/>
        </p:nvGraphicFramePr>
        <p:xfrm>
          <a:off x="5654050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{8100C1AB-7A85-49F7-BFF8-8039CCAB0F40}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Manufacturing</a:t>
                      </a:r>
                      <a:endParaRPr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Defect triage + guardrails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Grounds: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every claim in an SOP § or data row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Blocks: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invented part numbers and action codes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Abstains: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when the evidence is insufficient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Result: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human checks ~100% → &lt;20%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Why Cloudera</a:t>
            </a:r>
            <a:endParaRPr/>
          </a:p>
        </p:txBody>
      </p:sp>
      <p:sp>
        <p:nvSpPr>
          <p:cNvPr id="360" name="Google Shape;360;p50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Ontology and agents, governed, on your data</a:t>
            </a:r>
            <a:endParaRPr/>
          </a:p>
        </p:txBody>
      </p:sp>
      <p:sp>
        <p:nvSpPr>
          <p:cNvPr id="361" name="Google Shape;361;p50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Your data stays put. AI runs where the data already lives.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</a:pPr>
            <a:r>
              <a:rPr lang="en-US"/>
              <a:t>One governed semantic layer: Atlas glossary as your TBox, Iceberg for the facts.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Build agents in Agent Studio; serve models in-platform with full lineage.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Prevent bad data in, verify claims out: hallucination caught or impossible.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map your use cases</a:t>
            </a:r>
            <a:endParaRPr/>
          </a:p>
        </p:txBody>
      </p:sp>
      <p:sp>
        <p:nvSpPr>
          <p:cNvPr id="402" name="Google Shape;402;p55"/>
          <p:cNvSpPr txBox="1"/>
          <p:nvPr>
            <p:ph idx="1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We walk your daily workflows together: the steps, the data, and the tools.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We pinpoint where AI agents can take the manual load off your team.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It takes about 10 minutes, and it seeds the workshop.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Scan the code or open your link to start: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{{DECK_URL}}</a:t>
            </a:r>
            <a:endParaRPr/>
          </a:p>
        </p:txBody>
      </p:sp>
      <p:sp>
        <p:nvSpPr>
          <p:cNvPr id="403" name="Google Shape;403;p55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2"/>
                </a:solidFill>
              </a:rPr>
              <a:t>Your discovery deck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